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8" r:id="rId4"/>
    <p:sldId id="259" r:id="rId5"/>
    <p:sldId id="277" r:id="rId6"/>
    <p:sldId id="260" r:id="rId7"/>
    <p:sldId id="261" r:id="rId8"/>
    <p:sldId id="276" r:id="rId9"/>
    <p:sldId id="262" r:id="rId10"/>
    <p:sldId id="274" r:id="rId11"/>
    <p:sldId id="275" r:id="rId12"/>
    <p:sldId id="257" r:id="rId13"/>
    <p:sldId id="263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4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3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7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6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1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1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4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8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8A427-F93F-4ADF-A3E8-C8A15811F74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D9B54-0197-48B4-8BD2-52CFB0B0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7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sign with a book and a candle&#10;&#10;AI-generated content may be incorrect.">
            <a:extLst>
              <a:ext uri="{FF2B5EF4-FFF2-40B4-BE49-F238E27FC236}">
                <a16:creationId xmlns:a16="http://schemas.microsoft.com/office/drawing/2014/main" id="{963364CB-C3AF-A091-CEC2-FCA0C70F4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660" y="911860"/>
            <a:ext cx="2392680" cy="271018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E09DD9-2A50-714F-9A2D-1ACC8C6E1E74}"/>
              </a:ext>
            </a:extLst>
          </p:cNvPr>
          <p:cNvSpPr txBox="1"/>
          <p:nvPr/>
        </p:nvSpPr>
        <p:spPr>
          <a:xfrm>
            <a:off x="728663" y="3943348"/>
            <a:ext cx="542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3210A-F276-2CBB-08D8-2D1B4BBE9685}"/>
              </a:ext>
            </a:extLst>
          </p:cNvPr>
          <p:cNvSpPr txBox="1"/>
          <p:nvPr/>
        </p:nvSpPr>
        <p:spPr>
          <a:xfrm>
            <a:off x="714375" y="4338695"/>
            <a:ext cx="542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006812-BD18-1E25-8A56-CF1B04DBF2BD}"/>
              </a:ext>
            </a:extLst>
          </p:cNvPr>
          <p:cNvSpPr txBox="1"/>
          <p:nvPr/>
        </p:nvSpPr>
        <p:spPr>
          <a:xfrm>
            <a:off x="1428750" y="5257797"/>
            <a:ext cx="401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46BA8-510D-21F5-9171-095C74234580}"/>
              </a:ext>
            </a:extLst>
          </p:cNvPr>
          <p:cNvSpPr txBox="1"/>
          <p:nvPr/>
        </p:nvSpPr>
        <p:spPr>
          <a:xfrm>
            <a:off x="1035844" y="5627129"/>
            <a:ext cx="4814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ResearchHub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Thesis Management Platform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39728-DA1A-793A-7A48-44ADD9B99F0A}"/>
              </a:ext>
            </a:extLst>
          </p:cNvPr>
          <p:cNvSpPr txBox="1"/>
          <p:nvPr/>
        </p:nvSpPr>
        <p:spPr>
          <a:xfrm>
            <a:off x="860822" y="6315075"/>
            <a:ext cx="51363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			: Mutiur Rahman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				: 220797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				: Third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				: First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No 		: CSE 3100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		: Web Programming Laboratory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Submission 	: 20/07/2026 </a:t>
            </a:r>
          </a:p>
        </p:txBody>
      </p:sp>
    </p:spTree>
    <p:extLst>
      <p:ext uri="{BB962C8B-B14F-4D97-AF65-F5344CB8AC3E}">
        <p14:creationId xmlns:p14="http://schemas.microsoft.com/office/powerpoint/2010/main" val="126597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943D72-92F3-6CF4-8B0D-98843FCE58EB}"/>
              </a:ext>
            </a:extLst>
          </p:cNvPr>
          <p:cNvSpPr txBox="1"/>
          <p:nvPr/>
        </p:nvSpPr>
        <p:spPr>
          <a:xfrm>
            <a:off x="740780" y="590309"/>
            <a:ext cx="140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CE985-5D84-FED3-2B6E-BAFA47534970}"/>
              </a:ext>
            </a:extLst>
          </p:cNvPr>
          <p:cNvSpPr txBox="1"/>
          <p:nvPr/>
        </p:nvSpPr>
        <p:spPr>
          <a:xfrm>
            <a:off x="740780" y="959641"/>
            <a:ext cx="537644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typically manage the thesis lifecycle through fragmented channels - email threads, shared drives, and messaging apps - resulting in lost documents, unclear deadlines, overwritten files, and no shared record of decisions between students and supervisors.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ResearchHub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centralized web application that addresses this by unifying the entire thesis workflow inside a single system: structured proposal submission and supervisor approval, automatic creation of a thesis workspace on approval, milestone and task tracking with dependency chains, versioned document uploads with SHA-256 checksums, meeting scheduling with optional Google Calendar/Meet integration, and threaded discussion with private supervisor notes.</a:t>
            </a:r>
          </a:p>
          <a:p>
            <a:pPr algn="just"/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on Laravel using server-rendered Blade views with Livewire for SPA-style navigation, and ships with a relational schema of thirteen application tables plus Laravel’s standard authentication infrastructure, running on MySQL in development. Three roles are supported - Student, Supervisor, and Admin - each with a distinct dashboard and permission set enforced through role middleware and explicit ownership checks.</a:t>
            </a:r>
          </a:p>
          <a:p>
            <a:pPr algn="just"/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report documents the system’s architecture, database schema, and object model using Entity-Relationship and UML diagrams (class, use-case, sequence, and state diagrams), walks through its major functional modules, and presents annotated screenshots captured from a live, seeded instance of the running application.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79618-52DD-1E83-BF54-59649FCCEE98}"/>
              </a:ext>
            </a:extLst>
          </p:cNvPr>
          <p:cNvSpPr txBox="1"/>
          <p:nvPr/>
        </p:nvSpPr>
        <p:spPr>
          <a:xfrm>
            <a:off x="740780" y="5391624"/>
            <a:ext cx="140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F166C-D8F9-B228-CB4C-BEDDFE394FB7}"/>
              </a:ext>
            </a:extLst>
          </p:cNvPr>
          <p:cNvSpPr txBox="1"/>
          <p:nvPr/>
        </p:nvSpPr>
        <p:spPr>
          <a:xfrm>
            <a:off x="740780" y="5760956"/>
            <a:ext cx="537644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Supervising a thesis is a long, multi-stage collaboration between a student and a supervisor. In the absence of dedicated tooling, this collaboration fragments across email (proposal drafts and feedback), cloud drives (document versions, often with ad-hoc filenames such as "thesis_v3_final_FINAL.docx"), and messaging apps (meeting scheduling, quick questions). This causes three recurring problems: documents get overwritten or lost because there is no enforced version history; deadlines and milestones are tracked inconsistently or not at all; and there is no single,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queryable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of what was agreed, when, and by whom.</a:t>
            </a:r>
          </a:p>
          <a:p>
            <a:pPr algn="just"/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ResearchHub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built to give a university department a single web application that every participant in the thesis lifecycle logs into, where the state of every proposal, thesis, milestone, document, and meeting is authoritative, timestamped, and access-controlled.</a:t>
            </a:r>
          </a:p>
        </p:txBody>
      </p:sp>
    </p:spTree>
    <p:extLst>
      <p:ext uri="{BB962C8B-B14F-4D97-AF65-F5344CB8AC3E}">
        <p14:creationId xmlns:p14="http://schemas.microsoft.com/office/powerpoint/2010/main" val="101512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6A57-FD61-1E2E-0858-38C9B5C0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7DC250-5E4A-E281-9812-8E90137F1530}"/>
              </a:ext>
            </a:extLst>
          </p:cNvPr>
          <p:cNvSpPr txBox="1"/>
          <p:nvPr/>
        </p:nvSpPr>
        <p:spPr>
          <a:xfrm>
            <a:off x="740780" y="590309"/>
            <a:ext cx="140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C856B-FCDF-DD3B-0F7B-3673BF0C6903}"/>
              </a:ext>
            </a:extLst>
          </p:cNvPr>
          <p:cNvSpPr txBox="1"/>
          <p:nvPr/>
        </p:nvSpPr>
        <p:spPr>
          <a:xfrm>
            <a:off x="740779" y="4006629"/>
            <a:ext cx="237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A969B-7E41-AC81-6C5B-734310005056}"/>
              </a:ext>
            </a:extLst>
          </p:cNvPr>
          <p:cNvSpPr txBox="1"/>
          <p:nvPr/>
        </p:nvSpPr>
        <p:spPr>
          <a:xfrm>
            <a:off x="740779" y="4666888"/>
            <a:ext cx="5376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defines exactly three roles via a PHP backed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UserRole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Student, Supervisor, Admin). Students and Supervisors may self-register; the first Admin is bootstrapped through a one-time /setup email-code flow, and additional admins are created only by promoting an existing Student or Supervisor from the admin user-management screen.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5FBB6-7EC7-E78D-E30F-EAC6B9ABA685}"/>
              </a:ext>
            </a:extLst>
          </p:cNvPr>
          <p:cNvSpPr txBox="1"/>
          <p:nvPr/>
        </p:nvSpPr>
        <p:spPr>
          <a:xfrm>
            <a:off x="740780" y="959641"/>
            <a:ext cx="53764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structured proposal submission and review workflow with explicit approve / reject / request-revision decisions.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instantiate an active thesis workspace the moment a proposal is approved, eliminating manual project setup.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progress via milestones and tasks, including dependency ordering and automatically computed completion percentages.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document management with immutable version history and integrity checksums, so no file is ever silently overwritten.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meeting scheduling, including optional one-click Google Calendar / Google Meet link generation.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threaded, role-aware discussion on each thesis, including supervisor-only private notes.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role-appropriate access (Student / Supervisor / Admin) throughout, with a seeded demo dataset for evaluation.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83E0E-F081-75DB-BC91-39C2D1EC4676}"/>
              </a:ext>
            </a:extLst>
          </p:cNvPr>
          <p:cNvSpPr txBox="1"/>
          <p:nvPr/>
        </p:nvSpPr>
        <p:spPr>
          <a:xfrm>
            <a:off x="740779" y="437596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DDB7C-5220-44A7-6258-5F1E334F0C18}"/>
              </a:ext>
            </a:extLst>
          </p:cNvPr>
          <p:cNvSpPr txBox="1"/>
          <p:nvPr/>
        </p:nvSpPr>
        <p:spPr>
          <a:xfrm>
            <a:off x="740779" y="568255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 Matrix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87B5FB-B75B-00C4-D76D-0A35C495A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709015"/>
              </p:ext>
            </p:extLst>
          </p:nvPr>
        </p:nvGraphicFramePr>
        <p:xfrm>
          <a:off x="740779" y="5990328"/>
          <a:ext cx="5842000" cy="3627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90192413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95630522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51983606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819425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Capability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Student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Supervisor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12462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Self-register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 (promoted only)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77769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Create / edit / submit proposal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729335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Review &amp; decide proposal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5715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View own / supervised thesis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Own only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Supervised only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All (admin panel)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789866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Submit final thesis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85559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Create / edit / delete milestones &amp; tasks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 (while open)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78425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Complete milestone / update own task 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498098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Schedule / edit / delete meetings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18518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Post public comment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72548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Post private (supervisor-only) note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218699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Upload documents / new versions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234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Download documents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Own thesis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Supervised thesis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 admin route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24079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Override thesis 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74247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Manage users (role/department/active)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2822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Manage departments (CRUD)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54552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Connect Google Calendar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426452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21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F0E0-1B99-3773-127E-63F54B14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75AFECC-DEB9-A93B-D611-D5B680C771E6}"/>
              </a:ext>
            </a:extLst>
          </p:cNvPr>
          <p:cNvSpPr txBox="1"/>
          <p:nvPr/>
        </p:nvSpPr>
        <p:spPr>
          <a:xfrm>
            <a:off x="740779" y="894988"/>
            <a:ext cx="5376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FR1 - Allow a Student to create, edit (while Draft/Revision-Requested), and submit a research proposal to a chosen active Supervisor.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FR2 - Allow a Supervisor to review a submitted proposal and record Approve / Reject / Request-Revision, with mandatory notes for the latter two.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FR3 - On approval, automatically create a Thesis linked 1:1 to the approved proposal, copying student, supervisor, and department.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FR4 - Allow a Supervisor to define Milestones (due dates, optional dependency) and Tasks under each milestone, assigned to the student.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FR5 - Automatically recompute a milestone’s progress percentage from its tasks, and block completion unless all tasks are done and any dependency is itself complete.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FR6 - Support thesis document uploads under categories (Proposal, Chapter, Appendix, Final, Other) as immutable, SHA-256-checksummed versions.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FR7 - Allow a Supervisor to schedule a Meeting and auto-provision a Google Calendar event with a Meet link when Google is connected and the meeting is Online.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FR8 - Support threaded comments (one level of replies), @mention parsing scoped to the thesis’s two participants, and supervisor-only private notes.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FR9 - Gate final thesis submission on the presence of an uploaded Final-category document.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FR10 - Provide role-specific dashboards with live counts (pending reviews, active theses, overdue milestones, totals).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FR11 - Provide an Admin interface for department CRUD and user role/status management, including confirmed promotion to Admin.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75785-3D5F-A618-DFA3-20B075608D63}"/>
              </a:ext>
            </a:extLst>
          </p:cNvPr>
          <p:cNvSpPr txBox="1"/>
          <p:nvPr/>
        </p:nvSpPr>
        <p:spPr>
          <a:xfrm>
            <a:off x="740779" y="60406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70315-A04A-D805-9BC5-0CA197DAFB7F}"/>
              </a:ext>
            </a:extLst>
          </p:cNvPr>
          <p:cNvSpPr txBox="1"/>
          <p:nvPr/>
        </p:nvSpPr>
        <p:spPr>
          <a:xfrm>
            <a:off x="740779" y="5710230"/>
            <a:ext cx="170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A46D4-EFC0-4377-F3D0-CB57BAACF49C}"/>
              </a:ext>
            </a:extLst>
          </p:cNvPr>
          <p:cNvSpPr txBox="1"/>
          <p:nvPr/>
        </p:nvSpPr>
        <p:spPr>
          <a:xfrm>
            <a:off x="740779" y="6079562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2CC835-9B4C-2369-4B87-D892AFAF3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7479" y="6079562"/>
            <a:ext cx="4223042" cy="374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7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B39996E-0705-F82F-AF70-C94DACB1A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754021" y="2161150"/>
            <a:ext cx="7960709" cy="5195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818065-CEDE-96B2-8D41-B4FD6CBB9404}"/>
              </a:ext>
            </a:extLst>
          </p:cNvPr>
          <p:cNvSpPr txBox="1"/>
          <p:nvPr/>
        </p:nvSpPr>
        <p:spPr>
          <a:xfrm rot="5400000">
            <a:off x="5196291" y="479911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Diagram</a:t>
            </a:r>
          </a:p>
        </p:txBody>
      </p:sp>
    </p:spTree>
    <p:extLst>
      <p:ext uri="{BB962C8B-B14F-4D97-AF65-F5344CB8AC3E}">
        <p14:creationId xmlns:p14="http://schemas.microsoft.com/office/powerpoint/2010/main" val="31077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D090-C45E-D88C-68D1-EECC79FF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EEE751-70DF-6FFA-CDE9-FF554E45FED3}"/>
              </a:ext>
            </a:extLst>
          </p:cNvPr>
          <p:cNvSpPr txBox="1"/>
          <p:nvPr/>
        </p:nvSpPr>
        <p:spPr>
          <a:xfrm>
            <a:off x="740779" y="60406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1483832-5092-96E2-EECA-748943CC3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213"/>
          <a:stretch>
            <a:fillRect/>
          </a:stretch>
        </p:blipFill>
        <p:spPr>
          <a:xfrm>
            <a:off x="802203" y="1118410"/>
            <a:ext cx="5253593" cy="792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7815C-D2CF-3E0D-B67E-9D615CC0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32555C-CE48-42C2-27F8-4CAD2DF2B291}"/>
              </a:ext>
            </a:extLst>
          </p:cNvPr>
          <p:cNvSpPr txBox="1"/>
          <p:nvPr/>
        </p:nvSpPr>
        <p:spPr>
          <a:xfrm>
            <a:off x="740779" y="60406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9E0AE1B-1001-CFF6-9242-E0523A150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397" y="1071017"/>
            <a:ext cx="4093666" cy="386689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6E5DB7D-D8D6-C808-65E8-1A2C6E89A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779" y="4488911"/>
            <a:ext cx="5529262" cy="57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8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84DB9-A503-EB43-3DA7-ADD9B680D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B69615-5A1A-DB20-06BF-FA592585318B}"/>
              </a:ext>
            </a:extLst>
          </p:cNvPr>
          <p:cNvSpPr txBox="1"/>
          <p:nvPr/>
        </p:nvSpPr>
        <p:spPr>
          <a:xfrm>
            <a:off x="740778" y="423624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 - Proposal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578AEEE-3055-31C0-3B53-14D921C5C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77512"/>
            <a:ext cx="6858000" cy="50274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BE583D-CD9E-EEE2-9803-A8CDEABA0FA3}"/>
              </a:ext>
            </a:extLst>
          </p:cNvPr>
          <p:cNvSpPr txBox="1"/>
          <p:nvPr/>
        </p:nvSpPr>
        <p:spPr>
          <a:xfrm>
            <a:off x="740777" y="549091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 - Meeting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1BD0BD-1691-EC54-0822-60EFDC9F1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604977"/>
            <a:ext cx="6858000" cy="423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4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2FD7-D74B-5A73-E1B6-752377AB6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0C939B-C0D5-ABAE-992E-5F59E0CEF018}"/>
              </a:ext>
            </a:extLst>
          </p:cNvPr>
          <p:cNvSpPr txBox="1"/>
          <p:nvPr/>
        </p:nvSpPr>
        <p:spPr>
          <a:xfrm>
            <a:off x="740779" y="60406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93F0A5-E964-DD3D-C2FC-C442FB22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35650"/>
            <a:ext cx="5334000" cy="1362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D39458-9DF4-6468-42D8-74253AB9E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0769" y="2481263"/>
            <a:ext cx="5436462" cy="1483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40F18-C3CE-EE28-6452-921B9878E0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4562475"/>
            <a:ext cx="5334000" cy="781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CF8B63-7B55-81EE-4A54-B48F85DDE480}"/>
              </a:ext>
            </a:extLst>
          </p:cNvPr>
          <p:cNvSpPr txBox="1"/>
          <p:nvPr/>
        </p:nvSpPr>
        <p:spPr>
          <a:xfrm>
            <a:off x="762000" y="5926748"/>
            <a:ext cx="140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E90159-491C-DFE9-B98F-6CA0A4975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77039"/>
              </p:ext>
            </p:extLst>
          </p:nvPr>
        </p:nvGraphicFramePr>
        <p:xfrm>
          <a:off x="761999" y="6319892"/>
          <a:ext cx="5333999" cy="219545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88307">
                  <a:extLst>
                    <a:ext uri="{9D8B030D-6E8A-4147-A177-3AD203B41FA5}">
                      <a16:colId xmlns:a16="http://schemas.microsoft.com/office/drawing/2014/main" val="2290614504"/>
                    </a:ext>
                  </a:extLst>
                </a:gridCol>
                <a:gridCol w="3145692">
                  <a:extLst>
                    <a:ext uri="{9D8B030D-6E8A-4147-A177-3AD203B41FA5}">
                      <a16:colId xmlns:a16="http://schemas.microsoft.com/office/drawing/2014/main" val="106938193"/>
                    </a:ext>
                  </a:extLst>
                </a:gridCol>
              </a:tblGrid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Package / Tool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Role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561694163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laravel/framework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Core application framework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68326114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php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Language runtime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172825199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livewire/livewire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wire:navigate SPA-style page transitions only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375755781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guzzlehttp/guzzle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HTTP client used by the Composio integration service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16860635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vite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Frontend build tool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763191485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tailwindcss / @tailwindcss/vite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Utility-first CSS framework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39547534"/>
                  </a:ext>
                </a:extLst>
              </a:tr>
              <a:tr h="2744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laravel-vite-plugin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 dirty="0">
                          <a:effectLst/>
                        </a:rPr>
                        <a:t>Laravel ↔ Vite bridge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88484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207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EAB17-9C9A-D699-12CC-0F4D849C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20A425-F292-9665-546A-CD8AEB1D6FA3}"/>
              </a:ext>
            </a:extLst>
          </p:cNvPr>
          <p:cNvSpPr txBox="1"/>
          <p:nvPr/>
        </p:nvSpPr>
        <p:spPr>
          <a:xfrm>
            <a:off x="740780" y="590309"/>
            <a:ext cx="493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 Walkthrough - Admin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7F6A1-5D6A-4A1B-ED51-F934DEB3CB28}"/>
              </a:ext>
            </a:extLst>
          </p:cNvPr>
          <p:cNvSpPr txBox="1"/>
          <p:nvPr/>
        </p:nvSpPr>
        <p:spPr>
          <a:xfrm>
            <a:off x="740780" y="9596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A4C05-5742-7694-72F5-1348B6362813}"/>
              </a:ext>
            </a:extLst>
          </p:cNvPr>
          <p:cNvSpPr txBox="1"/>
          <p:nvPr/>
        </p:nvSpPr>
        <p:spPr>
          <a:xfrm>
            <a:off x="740780" y="4666058"/>
            <a:ext cx="2916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Code Sent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57C9B-6F25-77CF-D132-306DCFC2F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80" y="1240628"/>
            <a:ext cx="5531909" cy="3111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5658D-9FBA-3EB6-E3B8-762ED7CC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0" y="4973836"/>
            <a:ext cx="5531911" cy="31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4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5C4EC-F017-B0DD-CC94-9FE72618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7A38266-7F01-098E-6862-FC37CBED5305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1EBFC-56AA-BC4A-EC82-0019878B6ADB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Received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121C85-698C-F4E2-1E3F-D92979F3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7" y="681032"/>
            <a:ext cx="6080613" cy="3420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D13B1-C876-0990-E0CE-0FE1CA6B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67" y="4846436"/>
            <a:ext cx="6080615" cy="342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0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4CC8F6-0585-A6DE-43CE-F765848F0675}"/>
              </a:ext>
            </a:extLst>
          </p:cNvPr>
          <p:cNvSpPr txBox="1"/>
          <p:nvPr/>
        </p:nvSpPr>
        <p:spPr>
          <a:xfrm>
            <a:off x="740780" y="590309"/>
            <a:ext cx="493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 Walkthrough - Student Profile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E1649-DC30-9713-2C9A-6C460448C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80" y="1267418"/>
            <a:ext cx="5494868" cy="3090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121FE3-6262-F6B4-53C3-AB89039DE6FD}"/>
              </a:ext>
            </a:extLst>
          </p:cNvPr>
          <p:cNvSpPr txBox="1"/>
          <p:nvPr/>
        </p:nvSpPr>
        <p:spPr>
          <a:xfrm>
            <a:off x="740780" y="9596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BCB49E-B7AF-61D5-5839-7261392B8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80" y="4973835"/>
            <a:ext cx="5494868" cy="30908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7130A9-7BB9-3E63-5F7D-5B7DEF47B3D2}"/>
              </a:ext>
            </a:extLst>
          </p:cNvPr>
          <p:cNvSpPr txBox="1"/>
          <p:nvPr/>
        </p:nvSpPr>
        <p:spPr>
          <a:xfrm>
            <a:off x="740780" y="46660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1CB8CD-F328-C1AC-47BB-86AC54B6A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0" y="4953001"/>
            <a:ext cx="5531907" cy="311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89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331F-C6C8-3005-D807-FAC1C016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7C3860C-F4CD-05F7-8AE9-55DEBEB896FB}"/>
              </a:ext>
            </a:extLst>
          </p:cNvPr>
          <p:cNvSpPr txBox="1"/>
          <p:nvPr/>
        </p:nvSpPr>
        <p:spPr>
          <a:xfrm>
            <a:off x="412168" y="388140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CFBBDC-AE6A-E3A0-6ECE-F6A95957405A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C8F50A-3834-1F88-5293-B6186E5F7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8" y="760812"/>
            <a:ext cx="6173253" cy="34724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4B9DA-AFBF-1CE3-C045-FF134A7BC8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5"/>
          <a:stretch>
            <a:fillRect/>
          </a:stretch>
        </p:blipFill>
        <p:spPr>
          <a:xfrm>
            <a:off x="412167" y="4846435"/>
            <a:ext cx="6173253" cy="35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72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5ACF-6652-A5BA-A90E-79AD8E62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F3ACAB2-CC42-E6C3-CFDC-E04E148394F7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Page 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4FFD7F-217B-390F-7D13-90419037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7" y="695917"/>
            <a:ext cx="6291214" cy="3538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800B8E-F286-2089-6793-3F50A28E54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6"/>
          <a:stretch>
            <a:fillRect/>
          </a:stretch>
        </p:blipFill>
        <p:spPr>
          <a:xfrm>
            <a:off x="412166" y="4846435"/>
            <a:ext cx="6186361" cy="35388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894B39-03FA-D4D4-62E4-D630E8A91752}"/>
              </a:ext>
            </a:extLst>
          </p:cNvPr>
          <p:cNvSpPr txBox="1"/>
          <p:nvPr/>
        </p:nvSpPr>
        <p:spPr>
          <a:xfrm>
            <a:off x="412166" y="388140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 Page</a:t>
            </a:r>
          </a:p>
        </p:txBody>
      </p:sp>
    </p:spTree>
    <p:extLst>
      <p:ext uri="{BB962C8B-B14F-4D97-AF65-F5344CB8AC3E}">
        <p14:creationId xmlns:p14="http://schemas.microsoft.com/office/powerpoint/2010/main" val="327297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15336-97E7-80C0-DE66-37E97057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0DD2279-9855-3AE6-6837-1ECB822C1093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Page -3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4F70C-0490-C2FD-76B4-B813F6AF0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5"/>
          <a:stretch>
            <a:fillRect/>
          </a:stretch>
        </p:blipFill>
        <p:spPr>
          <a:xfrm>
            <a:off x="412166" y="695918"/>
            <a:ext cx="6188353" cy="35388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985427-5408-7E83-3E5E-71C7C8C4AE79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Page -2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4A1694-5008-1978-00AF-BFECFA9A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35"/>
          <a:stretch>
            <a:fillRect/>
          </a:stretch>
        </p:blipFill>
        <p:spPr>
          <a:xfrm>
            <a:off x="412166" y="4846435"/>
            <a:ext cx="6188355" cy="353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0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68A1-39BE-F061-5B3B-80ED2960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FE61C6-BAE1-9A12-D962-DE5578D38519}"/>
              </a:ext>
            </a:extLst>
          </p:cNvPr>
          <p:cNvSpPr txBox="1"/>
          <p:nvPr/>
        </p:nvSpPr>
        <p:spPr>
          <a:xfrm>
            <a:off x="740780" y="590309"/>
            <a:ext cx="493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 Walkthrough - Supervisor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FEBF9-22B0-D91D-FDDB-9ECC0FE24731}"/>
              </a:ext>
            </a:extLst>
          </p:cNvPr>
          <p:cNvSpPr txBox="1"/>
          <p:nvPr/>
        </p:nvSpPr>
        <p:spPr>
          <a:xfrm>
            <a:off x="740780" y="9596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D0E26-B87B-A496-D411-86C0FBAF46F4}"/>
              </a:ext>
            </a:extLst>
          </p:cNvPr>
          <p:cNvSpPr txBox="1"/>
          <p:nvPr/>
        </p:nvSpPr>
        <p:spPr>
          <a:xfrm>
            <a:off x="740780" y="4666058"/>
            <a:ext cx="2916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Connection for Meeting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607D8A-814E-BB21-228A-62513363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80" y="1202231"/>
            <a:ext cx="5531909" cy="3111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E7895-E010-1CDD-ED08-0929E4E48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0" y="4947045"/>
            <a:ext cx="5531909" cy="31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52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2710-9376-0381-DA39-0AD7A6908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2A7A115-418A-36BB-6359-8CE91C86623A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 Response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B7194-5BFE-C632-159B-95AD3AC494D4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 Review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139DA-108F-3BDB-82ED-762F32761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6" y="681033"/>
            <a:ext cx="6104475" cy="3433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98DB5D-283D-0C60-AA8A-E30E6AE0E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66" y="4846435"/>
            <a:ext cx="6104475" cy="343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93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69FF-F525-BF67-6C09-BCB37A91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0B00C0F-813F-0E00-1521-28B80033C9C9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Supervise Page -2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64134-668C-964E-A7F6-FAF0A2455800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Supervise Page 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D2372D-A61A-DBD6-9E4B-0ED34DE0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3"/>
          <a:stretch>
            <a:fillRect/>
          </a:stretch>
        </p:blipFill>
        <p:spPr>
          <a:xfrm>
            <a:off x="412166" y="681034"/>
            <a:ext cx="6104475" cy="3498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C977EF-7332-2976-2F14-538DE77C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5"/>
          <a:stretch>
            <a:fillRect/>
          </a:stretch>
        </p:blipFill>
        <p:spPr>
          <a:xfrm>
            <a:off x="412166" y="4846436"/>
            <a:ext cx="6104475" cy="34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01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8B6A-DDD4-23F8-626E-1324EEC9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3F2C822-591C-8F9E-F1DF-B09AF3328BAD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Supervise Page 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5513B-63DA-CC37-43E6-B30C770438AA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Supervise Page -3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6C9C8-2C60-3EC5-460F-1773F33BAB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6"/>
          <a:stretch>
            <a:fillRect/>
          </a:stretch>
        </p:blipFill>
        <p:spPr>
          <a:xfrm>
            <a:off x="412166" y="681033"/>
            <a:ext cx="6117435" cy="3499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16C7C6-6085-5A89-24BC-E3DBC77B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6"/>
          <a:stretch>
            <a:fillRect/>
          </a:stretch>
        </p:blipFill>
        <p:spPr>
          <a:xfrm>
            <a:off x="412165" y="4846435"/>
            <a:ext cx="6117436" cy="349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7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4C88-0109-B1A6-8D09-36E0BB35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467B8BB-606B-420D-2BFE-5CDC898A9FBD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Manage - 2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59E2C-CF7C-714C-51D0-49E1A43C1F69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Manage - 1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604C77-883E-D199-CB23-A46856C1E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75"/>
          <a:stretch>
            <a:fillRect/>
          </a:stretch>
        </p:blipFill>
        <p:spPr>
          <a:xfrm>
            <a:off x="412166" y="695919"/>
            <a:ext cx="6117436" cy="3506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62F86-379C-410D-0139-6C1DE0DECF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0"/>
          <a:stretch>
            <a:fillRect/>
          </a:stretch>
        </p:blipFill>
        <p:spPr>
          <a:xfrm>
            <a:off x="412167" y="4835121"/>
            <a:ext cx="6117436" cy="35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13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A6F73-D345-9F87-AE35-4C14BCFD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0EF4E0E-E6CD-2078-907B-B6C2923A6174}"/>
              </a:ext>
            </a:extLst>
          </p:cNvPr>
          <p:cNvSpPr txBox="1"/>
          <p:nvPr/>
        </p:nvSpPr>
        <p:spPr>
          <a:xfrm>
            <a:off x="412167" y="4538658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Manage - 4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6C7F1-AA01-EA6D-27AF-1E2D172141B6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Manage - 3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C0ED6-DB4C-045B-6AB6-FFCFFAB72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8" y="708745"/>
            <a:ext cx="6080612" cy="3420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F0E2BE-7086-FE0D-FFB6-B407C209B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67" y="4846436"/>
            <a:ext cx="6080612" cy="342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52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0447-F418-9E9B-6BEB-F161DDDD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9A6180-6AFA-8014-61DD-5908910E5C2F}"/>
              </a:ext>
            </a:extLst>
          </p:cNvPr>
          <p:cNvSpPr txBox="1"/>
          <p:nvPr/>
        </p:nvSpPr>
        <p:spPr>
          <a:xfrm>
            <a:off x="412167" y="388141"/>
            <a:ext cx="2373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Manage - 5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00D1C-A7AD-E0F1-A9CB-0C6901AE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7" y="695919"/>
            <a:ext cx="6080612" cy="342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04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57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10488D-8FF7-4B2A-83FE-40CB3A0144D0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77ddd647-f493-482e-857b-365edf36b1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</TotalTime>
  <Words>1234</Words>
  <Application>Microsoft Office PowerPoint</Application>
  <PresentationFormat>A4 Paper (210x297 mm)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Mutiur Rahman</dc:creator>
  <cp:lastModifiedBy>Mutiur Rahman</cp:lastModifiedBy>
  <cp:revision>8</cp:revision>
  <dcterms:created xsi:type="dcterms:W3CDTF">2026-07-19T19:12:54Z</dcterms:created>
  <dcterms:modified xsi:type="dcterms:W3CDTF">2026-07-19T21:11:28Z</dcterms:modified>
</cp:coreProperties>
</file>